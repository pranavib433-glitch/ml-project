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Model Performance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0.9768</c:v>
                </c:pt>
                <c:pt idx="1">
                  <c:v>0.0625</c:v>
                </c:pt>
                <c:pt idx="2">
                  <c:v>0.8862</c:v>
                </c:pt>
                <c:pt idx="3">
                  <c:v>0.1168</c:v>
                </c:pt>
                <c:pt idx="4">
                  <c:v>0.9727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Isolation Forest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0.9974</c:v>
                </c:pt>
                <c:pt idx="1">
                  <c:v>0.2558</c:v>
                </c:pt>
                <c:pt idx="2">
                  <c:v>0.2683</c:v>
                </c:pt>
                <c:pt idx="3">
                  <c:v>0.2619</c:v>
                </c:pt>
                <c:pt idx="4">
                  <c:v>0.9475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0.9897</c:v>
                </c:pt>
                <c:pt idx="1">
                  <c:v>0.1312</c:v>
                </c:pt>
                <c:pt idx="2">
                  <c:v>0.878</c:v>
                </c:pt>
                <c:pt idx="3">
                  <c:v>0.2283</c:v>
                </c:pt>
                <c:pt idx="4">
                  <c:v>0.9655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2A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12700" cap="flat">
              <a:solidFill>
                <a:srgbClr val="DCE4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02A4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 •  KLH  •  A.Y. 2026–27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Card Fraud Detection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Logistic Regression and Isolation Forest Anomaly Detection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2926080" cy="0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detection system combining supervised classification with unsupervised anomaly detection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834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 Pranavi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2520030026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T.S.S.S. Ananya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2520030039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4983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
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Shaik Asif</a:t>
            </a:r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CSE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655064"/>
            <a:ext cx="6199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 are booming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965960"/>
            <a:ext cx="6199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growth of online banking and digital payments has made credit cards central to everyday transactions.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825496"/>
            <a:ext cx="6199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rising alongside 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136392"/>
            <a:ext cx="6199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convenience has opened the door to a steady rise in fraudulent transaction attempts.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995928"/>
            <a:ext cx="6199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 fall short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4306824"/>
            <a:ext cx="6199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defined rules and expert knowledge struggle to keep pace with new and evolving fraud patterns.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2029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5166360"/>
            <a:ext cx="6199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offers a fix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5477256"/>
            <a:ext cx="6199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learns patterns directly from historical transaction data to flag suspicious activity automatically.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55280" y="1691640"/>
            <a:ext cx="3657600" cy="443484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23317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fraud-detection system built on two complementary techniques: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21040" y="310896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141B4D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3218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03920" y="349300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— classifies transactions using labeled history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21040" y="448056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141B4D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5902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503920" y="4864608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— isolates unusual patterns without needing labels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Hybrid ML Approach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Scenario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700784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setting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011680"/>
            <a:ext cx="6108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processes a large number of credit card transactions every day. Most are legitimate, but some may be fraudulent — causing financial losses to customers and the bank.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3072384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383280"/>
            <a:ext cx="6108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bank's fraud-analysis team wants to build a data-driven system that can identify suspicious transactions using historical credit card transaction data.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4443984"/>
            <a:ext cx="6108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classification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4754880"/>
            <a:ext cx="6108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treated as a binary classification task: Class 0 = legitimate transaction, Class 1 = fraudulent transaction.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63840" y="173736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242316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141B4D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42316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Legitimate Transaction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138160" y="352044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141B4D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352044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Fraudulent Transaction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138160" y="4709160"/>
            <a:ext cx="3200400" cy="0"/>
          </a:xfrm>
          <a:prstGeom prst="line">
            <a:avLst/>
          </a:prstGeom>
          <a:noFill/>
          <a:ln w="12700">
            <a:solidFill>
              <a:srgbClr val="3744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48920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additionally labels each transaction normal or anomalous, based on the detected transaction pattern.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Hybrid ML Approach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0512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task: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a credit card transaction is legitimate (Class 0) or fraudulent (Class 1) — a binary classification problem.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difficult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374136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3697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enormous number of transactions occur every day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904488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76732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 are vastly outnumbered by legitimate ones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434840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29768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patterns constantly evolve and differ from normal behavior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965192"/>
            <a:ext cx="91440" cy="914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82803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reviewing every transaction is slow and impractical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0" y="1691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Imbalance, In Numbers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589520" y="21031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589520" y="221284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284,807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3136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92640" y="21031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692640" y="221284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0.17%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784080" y="3136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Fraudulent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37033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589520" y="381304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492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7365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92640" y="37033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692640" y="381304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99.83%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0" y="47365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Transactions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Hybrid ML Approach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700784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known fraud patterns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01168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supervised Logistic Regression model that learns from labeled transaction history.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0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242048" y="1700784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novel, unseen fraud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242048" y="201168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unsupervised Isolation Forest model that flags anomalies without needing labels.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118104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severe class imbalance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342900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class-weighting (and evaluate SMOTE) so rare fraud cases aren't overwhelmed by genuine ones.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0" y="3154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242048" y="3118104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signals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242048" y="342900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Logistic Regression probabilities with Isolation Forest anomaly scores into one hybrid score.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535424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rigorously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484632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models using Accuracy, Precision, Recall, F1-score, and ROC-AUC — not accuracy alone.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0" y="4572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242048" y="4535424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deployment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242048" y="484632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scalable approach suited to real-time transaction screening.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Hybrid ML Approach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 Kaggle Credit Card Fraud Detection dataset containing anonymized transaction features.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3042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284,807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82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(Rows)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2194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91840" y="23042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3182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194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035040" y="23042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182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8240" y="2194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778240" y="23042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492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3182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 (0.17%)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096512"/>
            <a:ext cx="55778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96512"/>
            <a:ext cx="5212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 </a:t>
            </a:r>
            <a:pPr indent="0" marL="0">
              <a:buNone/>
            </a:pPr>
            <a:r>
              <a:rPr lang="en-US" sz="110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elapsed between this and the first transaction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81728"/>
            <a:ext cx="55778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681728"/>
            <a:ext cx="5212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– V28   </a:t>
            </a:r>
            <a:pPr indent="0" marL="0">
              <a:buNone/>
            </a:pPr>
            <a:r>
              <a:rPr lang="en-US" sz="110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PCA-anonymized transaction features (already scaled)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66944"/>
            <a:ext cx="55778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66944"/>
            <a:ext cx="5212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  </a:t>
            </a:r>
            <a:pPr indent="0" marL="0">
              <a:buNone/>
            </a:pPr>
            <a:r>
              <a:rPr lang="en-US" sz="110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amount, standardized before modeling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852160"/>
            <a:ext cx="55778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852160"/>
            <a:ext cx="5212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 </a:t>
            </a:r>
            <a:pPr indent="0" marL="0">
              <a:buNone/>
            </a:pPr>
            <a:r>
              <a:rPr lang="en-US" sz="110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label — 0 = Genuine, 1 = Fraudulent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46520" y="3749040"/>
            <a:ext cx="516636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393192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 Is Hard to Model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66560" y="437083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6995160" y="42336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class imbalance (fraud is 0.17% of all rows)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478231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46451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PCA-transformed — no direct business meaning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519379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31"/>
          <p:cNvSpPr/>
          <p:nvPr/>
        </p:nvSpPr>
        <p:spPr>
          <a:xfrm>
            <a:off x="6995160" y="50566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patterns can resemble rare genuine transactions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66560" y="560527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6995160" y="5468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splitting is required to preserve the fraud ratio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Hybrid ML Approach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2194560"/>
            <a:ext cx="1545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19456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96312" y="21945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69464" y="2194560"/>
            <a:ext cx="1545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(Scaling,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187952" y="219456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43984" y="21945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17136" y="2194560"/>
            <a:ext cx="1545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135624" y="219456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91656" y="21945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E639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64808" y="2194560"/>
            <a:ext cx="1545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+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083296" y="219456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39328" y="21945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0" y="2194560"/>
            <a:ext cx="1545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030968" y="2194560"/>
            <a:ext cx="256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287000" y="219456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360152" y="2194560"/>
            <a:ext cx="15453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(Acc, Prec, Rec,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ROC-AUC)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3977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stratified split keeps the fraud ratio identical in both train and test sets; the two models are trained in parallel and their scores fused into one hybrid prediction.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8280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+ Unsupervised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" y="51663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both catches known and previously unseen fraud types.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4709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48280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training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80560" y="51663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Re-weights the loss so rare fraud cases are not ignored.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47091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8280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Imbalance-aware metrics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0" y="51663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 and ROC-AUC replace plain accuracy.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Hybrid ML Approach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Imbalance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700784"/>
            <a:ext cx="5925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identifiers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011680"/>
            <a:ext cx="5925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pure identifier columns (e.g. id) that carry no predictive signal.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752344"/>
            <a:ext cx="5925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063240"/>
            <a:ext cx="5925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Time and Amount with StandardScaler; V1–V28 are already PCA-scaled.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803904"/>
            <a:ext cx="5925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4114800"/>
            <a:ext cx="5925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train / 25% test, stratified on Class so the fraud rate stays ~0.17% in both sets.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4855464"/>
            <a:ext cx="5925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training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5166360"/>
            <a:ext cx="5925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uses class_weight='balanced' to counter the imbalance without resampling.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0" y="173736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46720" y="237744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141B4D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24871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213,605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046720" y="29992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738360" y="237744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141B4D"/>
          </a:solidFill>
          <a:ln/>
        </p:spPr>
      </p:sp>
      <p:sp>
        <p:nvSpPr>
          <p:cNvPr id="26" name="Text 24"/>
          <p:cNvSpPr/>
          <p:nvPr/>
        </p:nvSpPr>
        <p:spPr>
          <a:xfrm>
            <a:off x="9738360" y="24871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71,202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738360" y="29992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36118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preserved at ~0.17% in both the training and test sets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4251960"/>
            <a:ext cx="3291840" cy="0"/>
          </a:xfrm>
          <a:prstGeom prst="line">
            <a:avLst/>
          </a:prstGeom>
          <a:noFill/>
          <a:ln w="12700">
            <a:solidFill>
              <a:srgbClr val="3744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4434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strategy noted: SMOTE oversampling of the minority class on the training set only.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Hybrid ML Approach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SUPERVISED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classification algorithm that learns from transactions whose class is already known, predicting whether a new transaction belongs to Class 0 (genuine) or Class 1 (fraud).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798064"/>
            <a:ext cx="5925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labeled history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3108960"/>
            <a:ext cx="5925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directly on historical transactions already tagged genuine or fraudulent.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3803904"/>
            <a:ext cx="5925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the classes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4114800"/>
            <a:ext cx="5925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re-weights the loss so rare fraud cases still influence training.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4809744"/>
            <a:ext cx="5925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fraud probability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5120640"/>
            <a:ext cx="5925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P(fraud) for each transaction, thresholded at 0.5 to reach a final decision.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0" y="169164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Result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88.6%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046720" y="2697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0" y="3154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0.973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046720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46720" y="3977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6.3%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04672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46720" y="4800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97.7%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046720" y="5166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46720" y="5394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recall — catches most fraud — but low precision means many false alarms under this imbalance.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Hybrid ML Approach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UNSUPERVISED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anomaly-detection algorithm that identifies transactions unusual compared with normal patterns — without needing any fraud labels — making it capable of catching previously unseen fraud types.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798064"/>
            <a:ext cx="5925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required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3108960"/>
            <a:ext cx="5925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purely from the structure of the data, unlike Logistic Regression.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3666744"/>
            <a:ext cx="5925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outliers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3977640"/>
            <a:ext cx="5925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need far fewer random splits to isolate than normal transactions.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4535424"/>
            <a:ext cx="5925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tuned to fraud rate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4846320"/>
            <a:ext cx="5925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contamination parameter is set to the observed fraud rate (~0.17%).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440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5404104"/>
            <a:ext cx="5925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anomalies directly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5715000"/>
            <a:ext cx="5925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-1 for anomaly (treated as fraud) and 1 for normal transactions.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0" y="169164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Result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046720" y="2697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46720" y="3154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0.947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046720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46720" y="3977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25.6%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8046720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46720" y="4800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26.8%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046720" y="5166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46720" y="5394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higher precision than Logistic Regression, but misses more fraud (lower recall) since it never sees labels.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Hybrid ML Approach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BOTH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Fraud-Scoring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signals are fused into a single hybrid fraud score, letting the system trade off supervised precision against unsupervised novelty detection.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Score  =  </a:t>
            </a:r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lr_weight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x  P(fraud)LR   +   (1 − </a:t>
            </a:r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lr_weight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x  Scaled Anomaly ScoreIF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387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scale the Isolation Forest anomaly score to the [0, 1] range.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34290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5387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38404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it with the Logistic Regression probability using a tunable lr_weight.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34290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35387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38404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 transaction as fraud once the blended hybrid score crosses 0.5.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Result (lr_weight = 0.5)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48640" y="53675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98.97%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925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5257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2834640" y="53675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13.1%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5925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5257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120640" y="53675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87.8%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5925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5257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406640" y="53675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0.228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5925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92640" y="5257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692640" y="53675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0.966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9784080" y="5925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Hybrid ML Approach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ALL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&amp;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misleading under 0.17% fraud prevalence, so Precision, Recall, F1-score and ROC-AUC are used together to judge each model fairly.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94560"/>
          <a:ext cx="11247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Hybrid ML Approach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93776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682496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27048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highest recall — best at catching known fraud patterns from labeled history, at the cost of precision.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4028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Forest: no labels needed — catches novel, unseen fraud types, with noisier overall predictions.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108960"/>
            <a:ext cx="100584" cy="10058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53512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model: blends both signals, giving a tunable, more balanced detector (Recall 87.8%, ROC-AUC 0.966).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443984"/>
            <a:ext cx="82296" cy="822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0682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 oversampling as an alternative to class-weighting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846320"/>
            <a:ext cx="82296" cy="822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709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deep learning (autoencoders) for anomaly detection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5248656"/>
            <a:ext cx="82296" cy="822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1149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real-time transaction-screening pipeline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650992"/>
            <a:ext cx="82296" cy="822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5138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cost-sensitive learning to weigh false negatives vs. false positives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160020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 at a Glance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87.8%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229600" y="2651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30358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0.966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229600" y="34930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387705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229600" y="43342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806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Hybrid ML Approach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2026-09-26T03:42:47Z</dcterms:created>
  <dcterms:modified xsi:type="dcterms:W3CDTF">2026-09-26T03:42:47Z</dcterms:modified>
</cp:coreProperties>
</file>